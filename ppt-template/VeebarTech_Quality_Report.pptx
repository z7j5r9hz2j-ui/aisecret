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불량률(%)</c:v>
                </c:pt>
              </c:strCache>
            </c:strRef>
          </c:tx>
          <c:spPr>
            <a:solidFill>
              <a:srgbClr val="024996"/>
            </a:solidFill>
            <a:ln w="38100" cap="flat">
              <a:solidFill>
                <a:srgbClr val="0249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24996"/>
              </a:solidFill>
              <a:ln w="9525" cap="flat">
                <a:solidFill>
                  <a:srgbClr val="0249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0.71</c:v>
                </c:pt>
                <c:pt idx="1">
                  <c:v>0.66</c:v>
                </c:pt>
                <c:pt idx="2">
                  <c:v>0.63</c:v>
                </c:pt>
                <c:pt idx="3">
                  <c:v>0.58</c:v>
                </c:pt>
                <c:pt idx="4">
                  <c:v>0.55</c:v>
                </c:pt>
                <c:pt idx="5">
                  <c:v>0.6</c:v>
                </c:pt>
                <c:pt idx="6">
                  <c:v>0.47</c:v>
                </c:pt>
                <c:pt idx="7">
                  <c:v>0.43</c:v>
                </c:pt>
                <c:pt idx="8">
                  <c:v>0.36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목표(%)</c:v>
                </c:pt>
              </c:strCache>
            </c:strRef>
          </c:tx>
          <c:spPr>
            <a:solidFill>
              <a:srgbClr val="9FB3C8"/>
            </a:solidFill>
            <a:ln w="38100" cap="flat">
              <a:solidFill>
                <a:srgbClr val="9FB3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FB3C8"/>
              </a:solidFill>
              <a:ln w="9525" cap="flat">
                <a:solidFill>
                  <a:srgbClr val="9FB3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7B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9525" cap="flat">
              <a:solidFill>
                <a:srgbClr val="E8EDF2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A6B7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VEEBAR_GRADIENT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EBAR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secret/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1920240" cy="3575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EBAR_CONTENT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secret/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84048"/>
            <a:ext cx="1463040" cy="27245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EBAR_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secret/ppt-template/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1920240" cy="3575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CE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2779776" cy="402336"/>
          </a:xfrm>
          <a:prstGeom prst="roundRect">
            <a:avLst>
              <a:gd name="adj" fmla="val 50000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1751076"/>
            <a:ext cx="100584" cy="100584"/>
          </a:xfrm>
          <a:prstGeom prst="ellipse">
            <a:avLst/>
          </a:prstGeom>
          <a:solidFill>
            <a:srgbClr val="1C7A8C"/>
          </a:solidFill>
          <a:ln w="12700">
            <a:solidFill>
              <a:srgbClr val="1C7A8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600200"/>
            <a:ext cx="2276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4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REPORT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3분기 품질, </a:t>
            </a:r>
            <a:pPr indent="0" marL="0">
              <a:lnSpc>
                <a:spcPct val="105000"/>
              </a:lnSpc>
              <a:buNone/>
            </a:pPr>
            <a:r>
              <a:rPr lang="en-US" sz="4600" b="1" i="1" dirty="0">
                <a:solidFill>
                  <a:srgbClr val="0249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증명합니다.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4340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3분기 품질 현황과 개선 과제를 한눈에 정리했습니다.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806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   ·   품질관리팀</a:t>
            </a:r>
            <a:endParaRPr lang="en-US" sz="12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005840"/>
            <a:ext cx="4327855" cy="51206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9357055" y="3749040"/>
            <a:ext cx="2103120" cy="21031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1812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E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A GLANCE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2057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0.42%</a:t>
            </a:r>
            <a:endParaRPr lang="en-US" sz="42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7706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6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불량률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818120" y="33375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</a:t>
            </a:r>
            <a:endParaRPr lang="en-US" sz="4200" dirty="0"/>
          </a:p>
        </p:txBody>
      </p:sp>
      <p:sp>
        <p:nvSpPr>
          <p:cNvPr id="14" name="Text 10"/>
          <p:cNvSpPr txBox="1"/>
          <p:nvPr/>
        </p:nvSpPr>
        <p:spPr>
          <a:xfrm>
            <a:off x="7818120" y="40507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6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납기 준수율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818120" y="46177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1.48</a:t>
            </a:r>
            <a:endParaRPr lang="en-US" sz="4200" dirty="0"/>
          </a:p>
        </p:txBody>
      </p:sp>
      <p:sp>
        <p:nvSpPr>
          <p:cNvPr id="16" name="Text 12"/>
          <p:cNvSpPr txBox="1"/>
          <p:nvPr/>
        </p:nvSpPr>
        <p:spPr>
          <a:xfrm>
            <a:off x="7818120" y="533095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6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공정능력 Cpk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4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보고서는 네 개의 파트로 구성됩니다.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754880" y="1143000"/>
            <a:ext cx="6888175" cy="9601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120640" y="114300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080760" y="114300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품질 지표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778240" y="1143000"/>
            <a:ext cx="2499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3분기 주요 KPI 요약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2377440"/>
            <a:ext cx="6888175" cy="9601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120640" y="237744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080760" y="23774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불량률 추이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2377440"/>
            <a:ext cx="2499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불량률과 목표 대비 현황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3611880"/>
            <a:ext cx="6888175" cy="9601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120640" y="361188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61188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불량 유형 분석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0" y="3611880"/>
            <a:ext cx="2499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 건수·비중·조치 상태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4846320"/>
            <a:ext cx="6888175" cy="9601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120640" y="484632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6080760" y="484632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과제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778240" y="4846320"/>
            <a:ext cx="2499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전후 비교와 4분기 계획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071055" y="310896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FFFFFF">
                    <a:alpha val="1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77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E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3분기 품질 현황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404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CEA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지표와 월별 추이를 중심으로 살펴봅니다.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CE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4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품질 지표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2533574" cy="3108960"/>
          </a:xfrm>
          <a:prstGeom prst="roundRect">
            <a:avLst>
              <a:gd name="adj" fmla="val 10106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926080"/>
            <a:ext cx="18020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불량률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42900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0.42%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14400" y="480060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E6F3F5"/>
          </a:solidFill>
          <a:ln w="12700">
            <a:solidFill>
              <a:srgbClr val="E6F3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80060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0.18%p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02254" y="2514600"/>
            <a:ext cx="2533574" cy="3108960"/>
          </a:xfrm>
          <a:prstGeom prst="roundRect">
            <a:avLst>
              <a:gd name="adj" fmla="val 10106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768014" y="2926080"/>
            <a:ext cx="18020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클레임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68014" y="342900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4800" dirty="0"/>
          </a:p>
        </p:txBody>
      </p:sp>
      <p:sp>
        <p:nvSpPr>
          <p:cNvPr id="12" name="Shape 10"/>
          <p:cNvSpPr/>
          <p:nvPr/>
        </p:nvSpPr>
        <p:spPr>
          <a:xfrm>
            <a:off x="3768014" y="480060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E6F3F5"/>
          </a:solidFill>
          <a:ln w="12700">
            <a:solidFill>
              <a:srgbClr val="E6F3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68014" y="480060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3건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55868" y="2514600"/>
            <a:ext cx="2533574" cy="3108960"/>
          </a:xfrm>
          <a:prstGeom prst="roundRect">
            <a:avLst>
              <a:gd name="adj" fmla="val 10106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621628" y="2926080"/>
            <a:ext cx="18020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공정능력 Cpk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621628" y="342900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1.48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6621628" y="480060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E6F3F5"/>
          </a:solidFill>
          <a:ln w="12700">
            <a:solidFill>
              <a:srgbClr val="E6F3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21628" y="480060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0.12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09481" y="2514600"/>
            <a:ext cx="2533574" cy="3108960"/>
          </a:xfrm>
          <a:prstGeom prst="roundRect">
            <a:avLst>
              <a:gd name="adj" fmla="val 10106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475241" y="2926080"/>
            <a:ext cx="18020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납기 준수율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475241" y="342900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</a:t>
            </a:r>
            <a:endParaRPr lang="en-US" sz="4800" dirty="0"/>
          </a:p>
        </p:txBody>
      </p:sp>
      <p:sp>
        <p:nvSpPr>
          <p:cNvPr id="22" name="Shape 20"/>
          <p:cNvSpPr/>
          <p:nvPr/>
        </p:nvSpPr>
        <p:spPr>
          <a:xfrm>
            <a:off x="9475241" y="480060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FDEEE6"/>
          </a:solidFill>
          <a:ln w="12700">
            <a:solidFill>
              <a:srgbClr val="FDEE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75241" y="480060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0.4%p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전분기 대비 증감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4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불량률 추이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7223760" cy="393192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777240" y="2514600"/>
          <a:ext cx="676656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138160" y="2286000"/>
            <a:ext cx="3504895" cy="1143000"/>
          </a:xfrm>
          <a:prstGeom prst="roundRect">
            <a:avLst>
              <a:gd name="adj" fmla="val 22400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138160" y="3657600"/>
            <a:ext cx="3504895" cy="1143000"/>
          </a:xfrm>
          <a:prstGeom prst="roundRect">
            <a:avLst>
              <a:gd name="adj" fmla="val 22400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138160" y="5029200"/>
            <a:ext cx="3504895" cy="1143000"/>
          </a:xfrm>
          <a:prstGeom prst="roundRect">
            <a:avLst>
              <a:gd name="adj" fmla="val 22400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412480" y="2542032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0" y="2702052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235440" y="2505456"/>
            <a:ext cx="2224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연속 하락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9235440" y="2871216"/>
            <a:ext cx="2224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이후 목표(0.50%) 이하 유지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412480" y="3913632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4073652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235440" y="3877056"/>
            <a:ext cx="2224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최저치 0.36%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9235440" y="4242816"/>
            <a:ext cx="2224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연초 대비 49% 개선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412480" y="5285232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5445252"/>
            <a:ext cx="320040" cy="3200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235440" y="5248656"/>
            <a:ext cx="2224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6월 일시 상승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9235440" y="5614416"/>
            <a:ext cx="2224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금형 교체 초기 불량 영향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4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불량 유형별 현황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1094415" cy="3886200"/>
          </a:xfrm>
          <a:prstGeom prst="roundRect">
            <a:avLst>
              <a:gd name="adj" fmla="val 6588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2606040"/>
          <a:ext cx="9144000" cy="914400"/>
        </p:xfrm>
        <a:graphic>
          <a:graphicData uri="http://schemas.openxmlformats.org/drawingml/2006/table">
            <a:tbl>
              <a:tblPr/>
              <a:tblGrid>
                <a:gridCol w="3136392"/>
                <a:gridCol w="1463954"/>
                <a:gridCol w="1463954"/>
                <a:gridCol w="2091233"/>
                <a:gridCol w="2299716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249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불량 유형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49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49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비중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49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전분기 대비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49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조치 상태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A17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치수 불량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34%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7A8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A17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외관 스크래치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49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A17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 누락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▲ 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49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A17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도장 불균일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8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7A8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A17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A6B7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모니터링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68680" y="56875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6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합계 124건 · 전분기 대비 22건 감소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4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/ AFTER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공정 자동화 전후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5044288" cy="338328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8768" y="2286000"/>
            <a:ext cx="5044288" cy="3383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75808" y="3657600"/>
            <a:ext cx="640080" cy="640080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1256" y="3813048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0584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005840" y="31089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수작업 육안 검사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1005840" y="3977640"/>
            <a:ext cx="41298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시간 개당 45초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검사자별 판정 편차 발생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불량 유출 월 평균 4건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055968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E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055968" y="31089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 검사 자동화</a:t>
            </a:r>
            <a:endParaRPr lang="en-US" sz="2600" dirty="0"/>
          </a:p>
        </p:txBody>
      </p:sp>
      <p:sp>
        <p:nvSpPr>
          <p:cNvPr id="13" name="Text 9"/>
          <p:cNvSpPr txBox="1"/>
          <p:nvPr/>
        </p:nvSpPr>
        <p:spPr>
          <a:xfrm>
            <a:off x="7055968" y="3977640"/>
            <a:ext cx="41298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시간 개당 8초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기준 표준화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불량 유출 월 평균 1건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4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QUARTER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4분기 개선 과제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3454298" cy="3566160"/>
          </a:xfrm>
          <a:prstGeom prst="roundRect">
            <a:avLst>
              <a:gd name="adj" fmla="val 7412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743200"/>
            <a:ext cx="777240" cy="777240"/>
          </a:xfrm>
          <a:prstGeom prst="roundRect">
            <a:avLst>
              <a:gd name="adj" fmla="val 28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293751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3794760"/>
            <a:ext cx="26313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4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133088"/>
            <a:ext cx="26313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 검사 확대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754880"/>
            <a:ext cx="26313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2라인까지 자동 검사를 확대해 외관 불량 유출을 차단합니다.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68698" y="2286000"/>
            <a:ext cx="3454298" cy="3566160"/>
          </a:xfrm>
          <a:prstGeom prst="roundRect">
            <a:avLst>
              <a:gd name="adj" fmla="val 7412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80178" y="2743200"/>
            <a:ext cx="777240" cy="777240"/>
          </a:xfrm>
          <a:prstGeom prst="roundRect">
            <a:avLst>
              <a:gd name="adj" fmla="val 28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488" y="2937510"/>
            <a:ext cx="388620" cy="3886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80178" y="3794760"/>
            <a:ext cx="26313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4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780178" y="4133088"/>
            <a:ext cx="26313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금형 관리 표준화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4780178" y="4754880"/>
            <a:ext cx="26313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교체 후 초기 100개 전수 검사로 초기 불량을 줄입니다.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188757" y="2286000"/>
            <a:ext cx="3454298" cy="3566160"/>
          </a:xfrm>
          <a:prstGeom prst="roundRect">
            <a:avLst>
              <a:gd name="adj" fmla="val 7412"/>
            </a:avLst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228600" dist="50800" dir="5400000">
              <a:srgbClr val="0A1722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00237" y="2743200"/>
            <a:ext cx="777240" cy="777240"/>
          </a:xfrm>
          <a:prstGeom prst="roundRect">
            <a:avLst>
              <a:gd name="adj" fmla="val 28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547" y="2937510"/>
            <a:ext cx="388620" cy="3886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600237" y="3794760"/>
            <a:ext cx="26313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4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600237" y="4133088"/>
            <a:ext cx="26313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7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교육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8600237" y="4754880"/>
            <a:ext cx="26313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누락 방지를 위해 체크리스트 기반 교육을 진행합니다.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143000"/>
            <a:ext cx="9265615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463040" y="2057400"/>
            <a:ext cx="92656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2377440" y="3246120"/>
            <a:ext cx="7436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CEA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관련 문의는 품질관리팀으로 연락 주세요.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3581248" y="4343400"/>
            <a:ext cx="237744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581248" y="43434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49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문의하기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233008" y="4343400"/>
            <a:ext cx="2377440" cy="566928"/>
          </a:xfrm>
          <a:prstGeom prst="roundRect">
            <a:avLst>
              <a:gd name="adj" fmla="val 50000"/>
            </a:avLst>
          </a:prstGeom>
          <a:ln w="15875">
            <a:solidFill>
              <a:srgbClr val="9DB9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33008" y="43434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자료 요청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Veebar 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Veebar Tech 품질 보고서</dc:title>
  <dc:subject>PptxGenJS Presentation</dc:subject>
  <dc:creator>품질관리팀</dc:creator>
  <cp:lastModifiedBy>품질관리팀</cp:lastModifiedBy>
  <cp:revision>1</cp:revision>
  <dcterms:created xsi:type="dcterms:W3CDTF">2026-09-27T06:24:04Z</dcterms:created>
  <dcterms:modified xsi:type="dcterms:W3CDTF">2026-09-27T06:24:04Z</dcterms:modified>
</cp:coreProperties>
</file>