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불량률(%)</c:v>
                </c:pt>
              </c:strCache>
            </c:strRef>
          </c:tx>
          <c:spPr>
            <a:solidFill>
              <a:srgbClr val="024996"/>
            </a:solidFill>
            <a:ln w="38100" cap="flat">
              <a:solidFill>
                <a:srgbClr val="0249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24996"/>
              </a:solidFill>
              <a:ln w="9525" cap="flat">
                <a:solidFill>
                  <a:srgbClr val="0249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0.71</c:v>
                </c:pt>
                <c:pt idx="1">
                  <c:v>0.66</c:v>
                </c:pt>
                <c:pt idx="2">
                  <c:v>0.63</c:v>
                </c:pt>
                <c:pt idx="3">
                  <c:v>0.58</c:v>
                </c:pt>
                <c:pt idx="4">
                  <c:v>0.55</c:v>
                </c:pt>
                <c:pt idx="5">
                  <c:v>0.6</c:v>
                </c:pt>
                <c:pt idx="6">
                  <c:v>0.47</c:v>
                </c:pt>
                <c:pt idx="7">
                  <c:v>0.43</c:v>
                </c:pt>
                <c:pt idx="8">
                  <c:v>0.36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목표(%)</c:v>
                </c:pt>
              </c:strCache>
            </c:strRef>
          </c:tx>
          <c:spPr>
            <a:solidFill>
              <a:srgbClr val="9FB3C8"/>
            </a:solidFill>
            <a:ln w="38100" cap="flat">
              <a:solidFill>
                <a:srgbClr val="9FB3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FB3C8"/>
              </a:solidFill>
              <a:ln w="9525" cap="flat">
                <a:solidFill>
                  <a:srgbClr val="9FB3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E8EDF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A6B7B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VEEBAR_GRADIENT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EBAR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isecret/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920240" cy="3575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EBAR_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isecret/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015" y="384048"/>
            <a:ext cx="1463040" cy="2724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EBAR_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isecret/ppt-template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920240" cy="3575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CE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2779776" cy="402336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1751076"/>
            <a:ext cx="100584" cy="100584"/>
          </a:xfrm>
          <a:prstGeom prst="ellipse">
            <a:avLst/>
          </a:prstGeom>
          <a:solidFill>
            <a:srgbClr val="1C7A8C"/>
          </a:solidFill>
          <a:ln w="12700">
            <a:solidFill>
              <a:srgbClr val="1C7A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00200"/>
            <a:ext cx="2276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REPORT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 품질, </a:t>
            </a:r>
            <a:pPr indent="0" marL="0">
              <a:lnSpc>
                <a:spcPct val="105000"/>
              </a:lnSpc>
              <a:buNone/>
            </a:pPr>
            <a:r>
              <a:rPr lang="en-US" sz="4600" b="1" i="1" dirty="0">
                <a:solidFill>
                  <a:srgbClr val="0249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증명합니다.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3분기 품질 현황과 개선 과제를 한눈에 정리했습니다.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10   ·   품질관리팀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05840"/>
            <a:ext cx="4327855" cy="512064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9357055" y="3749040"/>
            <a:ext cx="2103120" cy="21031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181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818120" y="2057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0.42%</a:t>
            </a:r>
            <a:endParaRPr lang="en-US" sz="42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770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불량률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3337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420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40507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준수율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4617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1.48</a:t>
            </a:r>
            <a:endParaRPr lang="en-US" sz="42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5330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공정능력 Cpk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보고서는 네 개의 파트로 구성됩니다.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0" y="1143000"/>
            <a:ext cx="6888175" cy="9601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120640" y="11430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114300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품질 지표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1143000"/>
            <a:ext cx="24990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 주요 KPI 요약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377440"/>
            <a:ext cx="6888175" cy="9601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120640" y="23774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23774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불량률 추이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2377440"/>
            <a:ext cx="24990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불량률과 목표 대비 현황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611880"/>
            <a:ext cx="6888175" cy="9601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6118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6118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유형 분석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3611880"/>
            <a:ext cx="24990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건수·비중·조치 상태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4846320"/>
            <a:ext cx="6888175" cy="9601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120640" y="484632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48463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과제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4846320"/>
            <a:ext cx="24990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전후 비교와 4분기 계획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31089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 품질 현황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지표와 월별 추이를 중심으로 살펴봅니다.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CE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품질 지표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2533574" cy="3108960"/>
          </a:xfrm>
          <a:prstGeom prst="roundRect">
            <a:avLst>
              <a:gd name="adj" fmla="val 10106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926080"/>
            <a:ext cx="1802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불량률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0.42%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480060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800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0.18%p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2254" y="2514600"/>
            <a:ext cx="2533574" cy="3108960"/>
          </a:xfrm>
          <a:prstGeom prst="roundRect">
            <a:avLst>
              <a:gd name="adj" fmla="val 10106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768014" y="2926080"/>
            <a:ext cx="1802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클레임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68014" y="342900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7건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768014" y="480060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8014" y="4800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3건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5868" y="2514600"/>
            <a:ext cx="2533574" cy="3108960"/>
          </a:xfrm>
          <a:prstGeom prst="roundRect">
            <a:avLst>
              <a:gd name="adj" fmla="val 10106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21628" y="2926080"/>
            <a:ext cx="1802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공정능력 Cpk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21628" y="342900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1.48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6621628" y="480060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1628" y="4800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0.12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09481" y="2514600"/>
            <a:ext cx="2533574" cy="3108960"/>
          </a:xfrm>
          <a:prstGeom prst="roundRect">
            <a:avLst>
              <a:gd name="adj" fmla="val 10106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475241" y="2926080"/>
            <a:ext cx="1802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준수율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475241" y="342900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9475241" y="480060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75241" y="4800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0.4%p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전분기 대비 증감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불량률 추이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7223760" cy="393192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2514600"/>
          <a:ext cx="67665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2286000"/>
            <a:ext cx="3504895" cy="1143000"/>
          </a:xfrm>
          <a:prstGeom prst="roundRect">
            <a:avLst>
              <a:gd name="adj" fmla="val 22400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38160" y="3657600"/>
            <a:ext cx="3504895" cy="1143000"/>
          </a:xfrm>
          <a:prstGeom prst="roundRect">
            <a:avLst>
              <a:gd name="adj" fmla="val 22400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138160" y="5029200"/>
            <a:ext cx="3504895" cy="1143000"/>
          </a:xfrm>
          <a:prstGeom prst="roundRect">
            <a:avLst>
              <a:gd name="adj" fmla="val 22400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0" y="2542032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270205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235440" y="2505456"/>
            <a:ext cx="222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연속 하락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235440" y="2871216"/>
            <a:ext cx="222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이후 목표(0.50%) 이하 유지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412480" y="3913632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4073652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235440" y="3877056"/>
            <a:ext cx="222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최저치 0.36%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9235440" y="4242816"/>
            <a:ext cx="222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연초 대비 49% 개선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412480" y="5285232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544525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35440" y="5248656"/>
            <a:ext cx="222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일시 상승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9235440" y="5614416"/>
            <a:ext cx="222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금형 교체 초기 불량 영향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유형별 현황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94415" cy="3886200"/>
          </a:xfrm>
          <a:prstGeom prst="roundRect">
            <a:avLst>
              <a:gd name="adj" fmla="val 6588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606040"/>
          <a:ext cx="9144000" cy="914400"/>
        </p:xfrm>
        <a:graphic>
          <a:graphicData uri="http://schemas.openxmlformats.org/drawingml/2006/table">
            <a:tbl>
              <a:tblPr/>
              <a:tblGrid>
                <a:gridCol w="3136392"/>
                <a:gridCol w="1463954"/>
                <a:gridCol w="1463954"/>
                <a:gridCol w="2091233"/>
                <a:gridCol w="2299716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불량 유형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전분기 대비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A17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치수 불량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7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A17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외관 스크래치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A17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조립 누락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▲ 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A17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도장 불균일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7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A17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모니터링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68680" y="5687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124건 · 전분기 대비 22건 감소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공정 자동화 전후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044288" cy="338328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8768" y="2286000"/>
            <a:ext cx="5044288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75808" y="365760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256" y="381304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005840" y="310896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육안 검사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1005840" y="3977640"/>
            <a:ext cx="4129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시간 개당 45초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검사자별 판정 편차 발생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유출 월 평균 4건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055968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055968" y="310896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검사 자동화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7055968" y="3977640"/>
            <a:ext cx="4129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시간 개당 8초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 표준화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유출 월 평균 1건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QUARTER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4분기 개선 과제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454298" cy="3566160"/>
          </a:xfrm>
          <a:prstGeom prst="roundRect">
            <a:avLst>
              <a:gd name="adj" fmla="val 7412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74320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9375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794760"/>
            <a:ext cx="2631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133088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검사 확대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754880"/>
            <a:ext cx="26313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2라인까지 자동 검사를 확대해 외관 불량 유출을 차단합니다.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8698" y="2286000"/>
            <a:ext cx="3454298" cy="3566160"/>
          </a:xfrm>
          <a:prstGeom prst="roundRect">
            <a:avLst>
              <a:gd name="adj" fmla="val 7412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0178" y="274320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488" y="293751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80178" y="3794760"/>
            <a:ext cx="2631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780178" y="4133088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금형 관리 표준화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780178" y="4754880"/>
            <a:ext cx="26313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 후 초기 100개 전수 검사로 초기 불량을 줄입니다.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88757" y="2286000"/>
            <a:ext cx="3454298" cy="3566160"/>
          </a:xfrm>
          <a:prstGeom prst="roundRect">
            <a:avLst>
              <a:gd name="adj" fmla="val 7412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00237" y="274320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547" y="293751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00237" y="3794760"/>
            <a:ext cx="2631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600237" y="4133088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교육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600237" y="4754880"/>
            <a:ext cx="26313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누락 방지를 위해 체크리스트 기반 교육을 진행합니다.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43000"/>
            <a:ext cx="9265615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057400"/>
            <a:ext cx="9265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2377440" y="3246120"/>
            <a:ext cx="7436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E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관련 문의는 품질관리팀으로 연락 주세요.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581248" y="434340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581248" y="43434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49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문의하기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33008" y="4343400"/>
            <a:ext cx="2377440" cy="566928"/>
          </a:xfrm>
          <a:prstGeom prst="roundRect">
            <a:avLst>
              <a:gd name="adj" fmla="val 50000"/>
            </a:avLst>
          </a:prstGeom>
          <a:ln w="15875">
            <a:solidFill>
              <a:srgbClr val="9DB9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33008" y="43434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자료 요청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Veebar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Veebar Tech 품질 보고서</dc:title>
  <dc:subject>PptxGenJS Presentation</dc:subject>
  <dc:creator>품질관리팀</dc:creator>
  <cp:lastModifiedBy>품질관리팀</cp:lastModifiedBy>
  <cp:revision>1</cp:revision>
  <dcterms:created xsi:type="dcterms:W3CDTF">2026-10-12T13:43:23Z</dcterms:created>
  <dcterms:modified xsi:type="dcterms:W3CDTF">2026-10-12T13:43:23Z</dcterms:modified>
</cp:coreProperties>
</file>