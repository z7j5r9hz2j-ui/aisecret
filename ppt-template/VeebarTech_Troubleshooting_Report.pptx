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대책 전</c:v>
                </c:pt>
              </c:strCache>
            </c:strRef>
          </c:tx>
          <c:spPr>
            <a:solidFill>
              <a:srgbClr val="9FB3C8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8/4</c:v>
                  </c:pt>
                  <c:pt idx="1">
                    <c:v>8/11</c:v>
                  </c:pt>
                  <c:pt idx="2">
                    <c:v>8/18</c:v>
                  </c:pt>
                  <c:pt idx="3">
                    <c:v>8/25</c:v>
                  </c:pt>
                  <c:pt idx="4">
                    <c:v>9/1</c:v>
                  </c:pt>
                  <c:pt idx="5">
                    <c:v>9/8</c:v>
                  </c:pt>
                  <c:pt idx="6">
                    <c:v>9/15</c:v>
                  </c:pt>
                  <c:pt idx="7">
                    <c:v>9/22</c:v>
                  </c:pt>
                  <c:pt idx="8">
                    <c:v>9/29</c:v>
                  </c:pt>
                  <c:pt idx="9">
                    <c:v>10/6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</c:v>
                </c:pt>
                <c:pt idx="1">
                  <c:v>9</c:v>
                </c:pt>
                <c:pt idx="2">
                  <c:v>11</c:v>
                </c:pt>
                <c:pt idx="3">
                  <c:v>10</c:v>
                </c:pt>
                <c:pt idx="4">
                  <c:v>6</c:v>
                </c:pt>
                <c:pt idx="5">
                  <c:v>7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대책 후</c:v>
                </c:pt>
              </c:strCache>
            </c:strRef>
          </c:tx>
          <c:spPr>
            <a:solidFill>
              <a:srgbClr val="1C7A8C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8/4</c:v>
                  </c:pt>
                  <c:pt idx="1">
                    <c:v>8/11</c:v>
                  </c:pt>
                  <c:pt idx="2">
                    <c:v>8/18</c:v>
                  </c:pt>
                  <c:pt idx="3">
                    <c:v>8/25</c:v>
                  </c:pt>
                  <c:pt idx="4">
                    <c:v>9/1</c:v>
                  </c:pt>
                  <c:pt idx="5">
                    <c:v>9/8</c:v>
                  </c:pt>
                  <c:pt idx="6">
                    <c:v>9/15</c:v>
                  </c:pt>
                  <c:pt idx="7">
                    <c:v>9/22</c:v>
                  </c:pt>
                  <c:pt idx="8">
                    <c:v>9/29</c:v>
                  </c:pt>
                  <c:pt idx="9">
                    <c:v>10/6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9525" cap="flat">
              <a:solidFill>
                <a:srgbClr val="E8ED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B7B"/>
                    </a:solidFill>
                    <a:latin typeface="Malgun Gothic"/>
                  </a:defRPr>
                </a:pPr>
                <a:r>
                  <a:rPr sz="1100" b="0" i="0" u="none" strike="noStrike">
                    <a:solidFill>
                      <a:srgbClr val="5A6B7B"/>
                    </a:solidFill>
                    <a:latin typeface="Malgun Gothic"/>
                  </a:rPr>
                  <a:t>정지 횟수 (회/주)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A6B7B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VEEBAR_GRADIENT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EBAR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isecret/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1920240" cy="3575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EBAR_CONTENT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isecret/ppt-templat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0015" y="384048"/>
            <a:ext cx="1463040" cy="27245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EBAR_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isecret/ppt-template/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1920240" cy="3575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DCE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00200"/>
            <a:ext cx="3950208" cy="402336"/>
          </a:xfrm>
          <a:prstGeom prst="roundRect">
            <a:avLst>
              <a:gd name="adj" fmla="val 50000"/>
            </a:avLst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1751076"/>
            <a:ext cx="100584" cy="100584"/>
          </a:xfrm>
          <a:prstGeom prst="ellipse">
            <a:avLst/>
          </a:prstGeom>
          <a:solidFill>
            <a:srgbClr val="1C7A8C"/>
          </a:solidFill>
          <a:ln w="12700">
            <a:solidFill>
              <a:srgbClr val="1C7A8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00200"/>
            <a:ext cx="3447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REPORT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3호기 스핀들 과열,
</a:t>
            </a:r>
            <a:pPr indent="0" marL="0">
              <a:lnSpc>
                <a:spcPct val="105000"/>
              </a:lnSpc>
              <a:buNone/>
            </a:pPr>
            <a:r>
              <a:rPr lang="en-US" sz="4400" b="1" i="1" dirty="0">
                <a:solidFill>
                  <a:srgbClr val="0249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찾기까지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434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6주간 세운 가설 7개와 검증·실행 결과를 시간 순서로 정리했습니다.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10   ·   설비보전팀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005840"/>
            <a:ext cx="4327855" cy="512064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9448495" y="3840480"/>
            <a:ext cx="2011680" cy="20116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81812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818120" y="2057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→ 0회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7818120" y="27706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E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알람 정지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818120" y="33375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6주</a:t>
            </a:r>
            <a:endParaRPr lang="en-US" sz="4000" dirty="0"/>
          </a:p>
        </p:txBody>
      </p:sp>
      <p:sp>
        <p:nvSpPr>
          <p:cNvPr id="14" name="Text 10"/>
          <p:cNvSpPr txBox="1"/>
          <p:nvPr/>
        </p:nvSpPr>
        <p:spPr>
          <a:xfrm>
            <a:off x="7818120" y="40507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E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해결 기간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818120" y="4617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</a:t>
            </a:r>
            <a:endParaRPr lang="en-US" sz="4000" dirty="0"/>
          </a:p>
        </p:txBody>
      </p:sp>
      <p:sp>
        <p:nvSpPr>
          <p:cNvPr id="16" name="Text 12"/>
          <p:cNvSpPr txBox="1"/>
          <p:nvPr/>
        </p:nvSpPr>
        <p:spPr>
          <a:xfrm>
            <a:off x="7818120" y="53309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E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검증한 가설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· CNC 가공기 3호기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6949440" cy="118872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87168"/>
            <a:ext cx="694944" cy="694944"/>
          </a:xfrm>
          <a:prstGeom prst="roundRect">
            <a:avLst>
              <a:gd name="adj" fmla="val 28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660904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496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현상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8072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가공 중 스핀들 과열 알람(AL-2041)으로 설비 정지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3611880"/>
            <a:ext cx="6949440" cy="118872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858768"/>
            <a:ext cx="694944" cy="694944"/>
          </a:xfrm>
          <a:prstGeom prst="roundRect">
            <a:avLst>
              <a:gd name="adj" fmla="val 28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403250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28800" y="3867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발생 시점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828800" y="41788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첫째 주부터 주 10회 이상 반복 발생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4983480"/>
            <a:ext cx="6949440" cy="118872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5230368"/>
            <a:ext cx="694944" cy="694944"/>
          </a:xfrm>
          <a:prstGeom prst="roundRect">
            <a:avLst>
              <a:gd name="adj" fmla="val 28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540410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28800" y="5239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영향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828800" y="55504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 1회당 평균 25분 · 후속 공정 대기 발생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863840" y="2240280"/>
            <a:ext cx="3779215" cy="118872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8229600" y="2404872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12회</a:t>
            </a:r>
            <a:endParaRPr lang="en-US" sz="34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0" y="3044952"/>
            <a:ext cx="3047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최대 정지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863840" y="3611880"/>
            <a:ext cx="3779215" cy="118872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8229600" y="3776472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38h</a:t>
            </a:r>
            <a:endParaRPr lang="en-US" sz="3400" dirty="0"/>
          </a:p>
        </p:txBody>
      </p:sp>
      <p:sp>
        <p:nvSpPr>
          <p:cNvPr id="24" name="Text 19"/>
          <p:cNvSpPr txBox="1"/>
          <p:nvPr/>
        </p:nvSpPr>
        <p:spPr>
          <a:xfrm>
            <a:off x="8229600" y="4416552"/>
            <a:ext cx="3047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정지 시간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7863840" y="4983480"/>
            <a:ext cx="3779215" cy="118872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26" name="Text 21"/>
          <p:cNvSpPr txBox="1"/>
          <p:nvPr/>
        </p:nvSpPr>
        <p:spPr>
          <a:xfrm>
            <a:off x="8229600" y="5148072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3400" dirty="0"/>
          </a:p>
        </p:txBody>
      </p:sp>
      <p:sp>
        <p:nvSpPr>
          <p:cNvPr id="27" name="Text 22"/>
          <p:cNvSpPr txBox="1"/>
          <p:nvPr/>
        </p:nvSpPr>
        <p:spPr>
          <a:xfrm>
            <a:off x="8229600" y="5788152"/>
            <a:ext cx="3047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가동률 하락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가설·실행 타임라인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3931920"/>
            <a:ext cx="11094415" cy="0"/>
          </a:xfrm>
          <a:prstGeom prst="line">
            <a:avLst/>
          </a:prstGeom>
          <a:noFill/>
          <a:ln w="25400">
            <a:solidFill>
              <a:srgbClr val="C9D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3611880"/>
            <a:ext cx="0" cy="320040"/>
          </a:xfrm>
          <a:prstGeom prst="line">
            <a:avLst/>
          </a:prstGeom>
          <a:noFill/>
          <a:ln w="15875">
            <a:solidFill>
              <a:srgbClr val="C9D5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2651760" cy="1325880"/>
          </a:xfrm>
          <a:prstGeom prst="roundRect">
            <a:avLst>
              <a:gd name="adj" fmla="val 19310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450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  <a:pPr indent="0" marL="0">
              <a:buNone/>
            </a:pPr>
            <a:r>
              <a:rPr lang="en-US" sz="120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08/04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절삭유 농도 저하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15468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1546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44168" y="3813048"/>
            <a:ext cx="237744" cy="237744"/>
          </a:xfrm>
          <a:prstGeom prst="ellipse">
            <a:avLst/>
          </a:prstGeom>
          <a:solidFill>
            <a:srgbClr val="9AA7B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07309" y="3931920"/>
            <a:ext cx="0" cy="320040"/>
          </a:xfrm>
          <a:prstGeom prst="line">
            <a:avLst/>
          </a:prstGeom>
          <a:noFill/>
          <a:ln w="15875">
            <a:solidFill>
              <a:srgbClr val="C9D5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81429" y="4251960"/>
            <a:ext cx="2651760" cy="1325880"/>
          </a:xfrm>
          <a:prstGeom prst="roundRect">
            <a:avLst>
              <a:gd name="adj" fmla="val 19310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910029" y="4416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</a:t>
            </a:r>
            <a:pPr indent="0" marL="0">
              <a:buNone/>
            </a:pPr>
            <a:r>
              <a:rPr lang="en-US" sz="120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08/08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910029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냉각 팬 필터 막힘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910029" y="512064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910029" y="51206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효과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888437" y="3813048"/>
            <a:ext cx="237744" cy="237744"/>
          </a:xfrm>
          <a:prstGeom prst="ellipse">
            <a:avLst/>
          </a:prstGeom>
          <a:solidFill>
            <a:srgbClr val="4F90D6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51578" y="3611880"/>
            <a:ext cx="0" cy="320040"/>
          </a:xfrm>
          <a:prstGeom prst="line">
            <a:avLst/>
          </a:prstGeom>
          <a:noFill/>
          <a:ln w="15875">
            <a:solidFill>
              <a:srgbClr val="C9D5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25698" y="2286000"/>
            <a:ext cx="2651760" cy="1325880"/>
          </a:xfrm>
          <a:prstGeom prst="roundRect">
            <a:avLst>
              <a:gd name="adj" fmla="val 19310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454298" y="2450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</a:t>
            </a:r>
            <a:pPr indent="0" marL="0">
              <a:buNone/>
            </a:pPr>
            <a:r>
              <a:rPr lang="en-US" sz="120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08/14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454298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스핀들 베어링 마모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54298" y="315468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54298" y="31546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32706" y="3813048"/>
            <a:ext cx="237744" cy="237744"/>
          </a:xfrm>
          <a:prstGeom prst="ellipse">
            <a:avLst/>
          </a:prstGeom>
          <a:solidFill>
            <a:srgbClr val="9AA7B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95848" y="3931920"/>
            <a:ext cx="0" cy="320040"/>
          </a:xfrm>
          <a:prstGeom prst="line">
            <a:avLst/>
          </a:prstGeom>
          <a:noFill/>
          <a:ln w="15875">
            <a:solidFill>
              <a:srgbClr val="C9D5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69968" y="4251960"/>
            <a:ext cx="2651760" cy="1325880"/>
          </a:xfrm>
          <a:prstGeom prst="roundRect">
            <a:avLst>
              <a:gd name="adj" fmla="val 19310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4998568" y="4416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</a:t>
            </a:r>
            <a:pPr indent="0" marL="0">
              <a:buNone/>
            </a:pPr>
            <a:r>
              <a:rPr lang="en-US" sz="120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08/20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998568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하절기 실내 온도 상승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998568" y="512064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98568" y="51206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기각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76976" y="3813048"/>
            <a:ext cx="237744" cy="237744"/>
          </a:xfrm>
          <a:prstGeom prst="ellipse">
            <a:avLst/>
          </a:prstGeom>
          <a:solidFill>
            <a:srgbClr val="9AA7B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40117" y="3611880"/>
            <a:ext cx="0" cy="320040"/>
          </a:xfrm>
          <a:prstGeom prst="line">
            <a:avLst/>
          </a:prstGeom>
          <a:noFill/>
          <a:ln w="15875">
            <a:solidFill>
              <a:srgbClr val="C9D5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14237" y="2286000"/>
            <a:ext cx="2651760" cy="1325880"/>
          </a:xfrm>
          <a:prstGeom prst="roundRect">
            <a:avLst>
              <a:gd name="adj" fmla="val 19310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542837" y="2450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H5</a:t>
            </a:r>
            <a:pPr indent="0" marL="0">
              <a:buNone/>
            </a:pPr>
            <a:r>
              <a:rPr lang="en-US" sz="120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08/27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542837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칠러 냉매 부족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542837" y="315468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42837" y="31546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효과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521245" y="3813048"/>
            <a:ext cx="237744" cy="237744"/>
          </a:xfrm>
          <a:prstGeom prst="ellipse">
            <a:avLst/>
          </a:prstGeom>
          <a:solidFill>
            <a:srgbClr val="4F90D6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84386" y="3931920"/>
            <a:ext cx="0" cy="320040"/>
          </a:xfrm>
          <a:prstGeom prst="line">
            <a:avLst/>
          </a:prstGeom>
          <a:noFill/>
          <a:ln w="15875">
            <a:solidFill>
              <a:srgbClr val="C9D5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58506" y="4251960"/>
            <a:ext cx="2651760" cy="1325880"/>
          </a:xfrm>
          <a:prstGeom prst="roundRect">
            <a:avLst>
              <a:gd name="adj" fmla="val 19310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8087106" y="4416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H6</a:t>
            </a:r>
            <a:pPr indent="0" marL="0">
              <a:buNone/>
            </a:pPr>
            <a:r>
              <a:rPr lang="en-US" sz="120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09/03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087106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칠러 순환 펌프 성능 저하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087106" y="512064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3F2F4"/>
          </a:solidFill>
          <a:ln w="12700">
            <a:solidFill>
              <a:srgbClr val="E3F2F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087106" y="51206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확인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065514" y="3813048"/>
            <a:ext cx="237744" cy="237744"/>
          </a:xfrm>
          <a:prstGeom prst="ellipse">
            <a:avLst/>
          </a:prstGeom>
          <a:solidFill>
            <a:srgbClr val="1C7A8C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728655" y="3611880"/>
            <a:ext cx="0" cy="320040"/>
          </a:xfrm>
          <a:prstGeom prst="line">
            <a:avLst/>
          </a:prstGeom>
          <a:noFill/>
          <a:ln w="15875">
            <a:solidFill>
              <a:srgbClr val="C9D5E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991295" y="2286000"/>
            <a:ext cx="2651760" cy="1325880"/>
          </a:xfrm>
          <a:prstGeom prst="roundRect">
            <a:avLst>
              <a:gd name="adj" fmla="val 19310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9219895" y="2450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H7</a:t>
            </a:r>
            <a:pPr indent="0" marL="0">
              <a:buNone/>
            </a:pPr>
            <a:r>
              <a:rPr lang="en-US" sz="1200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09/10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219895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펌프 교체로 유량 회복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9219895" y="315468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24996"/>
          </a:solidFill>
          <a:ln w="12700">
            <a:solidFill>
              <a:srgbClr val="02499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219895" y="31546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대책 완료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0609783" y="3813048"/>
            <a:ext cx="237744" cy="237744"/>
          </a:xfrm>
          <a:prstGeom prst="ellipse">
            <a:avLst/>
          </a:prstGeom>
          <a:solidFill>
            <a:srgbClr val="024996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598932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48640" y="59893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기각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783080" y="598932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783080" y="59893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효과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017520" y="598932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E3F2F4"/>
          </a:solidFill>
          <a:ln w="12700">
            <a:solidFill>
              <a:srgbClr val="E3F2F4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3017520" y="59893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확인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251960" y="598932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024996"/>
          </a:solidFill>
          <a:ln w="12700">
            <a:solidFill>
              <a:srgbClr val="02499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251960" y="59893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대책 완료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LOG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가설별 검증·실행 내역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1094415" cy="429768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468880"/>
          <a:ext cx="9144000" cy="914400"/>
        </p:xfrm>
        <a:graphic>
          <a:graphicData uri="http://schemas.openxmlformats.org/drawingml/2006/table">
            <a:tbl>
              <a:tblPr/>
              <a:tblGrid>
                <a:gridCol w="627278"/>
                <a:gridCol w="836676"/>
                <a:gridCol w="2299716"/>
                <a:gridCol w="2404872"/>
                <a:gridCol w="2718511"/>
                <a:gridCol w="1568196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249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249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249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249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검증·실행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249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49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49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08/04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7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절삭유 농도 저하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농도 5% → 8% 보정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알람 빈도 변화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96A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 기각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49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08/08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7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냉각 팬 필터 막힘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필터 교체 및 청소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 12 → 9회, 2주 후 재발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6FB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 부분 효과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49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08/14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7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스핀들 베어링 마모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진동 측정(FFT 분석)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결함 주파수 미검출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96A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 기각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49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08/20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7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하절기 실내 온도 상승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온도 로거 2주 기록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알람과 상관 낮음 (r=0.21)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A96A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 기각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49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08/27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7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칠러 냉매 부족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압력 점검 · 냉매 보충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 10 → 6회, 완전 해소 안 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6FB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 부분 효과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49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09/03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7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칠러 순환 펌프 성능 저하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냉각수 유량 측정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정격 대비 62%로 저하 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A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 원인 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49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09/10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17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펌프 교체로 유량 회복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펌프 교체 · 유량 알람 추가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B7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4주 연속 정지 0회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49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 대책 완료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HYPOTHESIS · H6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칠러 순환 펌프 성능 저하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430704" cy="2057400"/>
          </a:xfrm>
          <a:prstGeom prst="roundRect">
            <a:avLst>
              <a:gd name="adj" fmla="val 12444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468880"/>
            <a:ext cx="1424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71800"/>
            <a:ext cx="1790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냉각수 유량이 부족해 스핀들 열을 충분히 빼내지 못한다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0784" y="3086100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436544" y="2194560"/>
            <a:ext cx="2430704" cy="2057400"/>
          </a:xfrm>
          <a:prstGeom prst="roundRect">
            <a:avLst>
              <a:gd name="adj" fmla="val 12444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756584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213784" y="2468880"/>
            <a:ext cx="1424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방법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756584" y="2971800"/>
            <a:ext cx="1790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초음파 유량계로 칠러 출구 유량을 3일간 측정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688" y="3086100"/>
            <a:ext cx="274320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24448" y="2194560"/>
            <a:ext cx="2430704" cy="2057400"/>
          </a:xfrm>
          <a:prstGeom prst="roundRect">
            <a:avLst>
              <a:gd name="adj" fmla="val 12444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6644488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101688" y="2468880"/>
            <a:ext cx="1424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6644488" y="2971800"/>
            <a:ext cx="1790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24.8 L/min, 정격 40 L/min 대비 62%</a:t>
            </a:r>
            <a:endParaRPr lang="en-US" sz="14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591" y="3086100"/>
            <a:ext cx="274320" cy="27432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2351" y="2194560"/>
            <a:ext cx="2430704" cy="20574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532391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9989591" y="2468880"/>
            <a:ext cx="1424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9532391" y="2971800"/>
            <a:ext cx="1790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임펠러 마모로 인한 유량 저하가 근본 원인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" y="4572000"/>
            <a:ext cx="11094415" cy="155448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960120" y="4846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3291840" y="4846320"/>
            <a:ext cx="2539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L/min</a:t>
            </a:r>
            <a:endParaRPr lang="en-US" sz="3400" dirty="0"/>
          </a:p>
        </p:txBody>
      </p:sp>
      <p:sp>
        <p:nvSpPr>
          <p:cNvPr id="26" name="Text 20"/>
          <p:cNvSpPr txBox="1"/>
          <p:nvPr/>
        </p:nvSpPr>
        <p:spPr>
          <a:xfrm>
            <a:off x="3291840" y="5532120"/>
            <a:ext cx="2539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정격 유량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6014618" y="4846320"/>
            <a:ext cx="2539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24.8</a:t>
            </a:r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L/min</a:t>
            </a:r>
            <a:endParaRPr lang="en-US" sz="3400" dirty="0"/>
          </a:p>
        </p:txBody>
      </p:sp>
      <p:sp>
        <p:nvSpPr>
          <p:cNvPr id="28" name="Text 22"/>
          <p:cNvSpPr txBox="1"/>
          <p:nvPr/>
        </p:nvSpPr>
        <p:spPr>
          <a:xfrm>
            <a:off x="6014618" y="5532120"/>
            <a:ext cx="2539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유량 (62%)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8737397" y="4846320"/>
            <a:ext cx="25398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39.6</a:t>
            </a:r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L/min</a:t>
            </a:r>
            <a:endParaRPr lang="en-US" sz="3400" dirty="0"/>
          </a:p>
        </p:txBody>
      </p:sp>
      <p:sp>
        <p:nvSpPr>
          <p:cNvPr id="30" name="Text 24"/>
          <p:cNvSpPr txBox="1"/>
          <p:nvPr/>
        </p:nvSpPr>
        <p:spPr>
          <a:xfrm>
            <a:off x="8737397" y="5532120"/>
            <a:ext cx="2539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펌프 교체 후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960120" y="5212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칠러 출구 냉각수 유량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알람 정지 횟수 추이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7589520" cy="402336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77240" y="2377440"/>
          <a:ext cx="71323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2194560"/>
            <a:ext cx="3139135" cy="4023360"/>
          </a:xfrm>
          <a:prstGeom prst="roundRect">
            <a:avLst>
              <a:gd name="adj" fmla="val 8156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869680" y="2514600"/>
            <a:ext cx="2407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49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적용한 조치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869680" y="310896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869680" y="31089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875520" y="3108960"/>
            <a:ext cx="1493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 필터 교체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869680" y="3767328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869680" y="376732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875520" y="3767328"/>
            <a:ext cx="1493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H5 냉매 보충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869680" y="4425696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EEF4F9"/>
          </a:solidFill>
          <a:ln w="12700">
            <a:solidFill>
              <a:srgbClr val="EEF4F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869680" y="442569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9/15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875520" y="4425696"/>
            <a:ext cx="1493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H7 펌프 교체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869680" y="5074920"/>
            <a:ext cx="2407615" cy="777240"/>
          </a:xfrm>
          <a:prstGeom prst="roundRect">
            <a:avLst>
              <a:gd name="adj" fmla="val 23529"/>
            </a:avLst>
          </a:prstGeom>
          <a:solidFill>
            <a:srgbClr val="E3F2F4"/>
          </a:solidFill>
          <a:ln w="12700">
            <a:solidFill>
              <a:srgbClr val="E3F2F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98280" y="5193792"/>
            <a:ext cx="1950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대책 후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098280" y="5440680"/>
            <a:ext cx="1950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 연속 0회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&amp; ACTIONS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 원인과 대책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94560"/>
            <a:ext cx="4297680" cy="4023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012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29718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칠러 순환 펌프 임펠러 마모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11480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냉각수 유량이 정격의 62%까지 떨어져 고부하 가공 시 스핀들 온도가 알람 기준을 넘었습니다. 필터·냉매 조치는 증상을 일부 줄였을 뿐 원인은 아니었습니다.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212080" y="2194560"/>
            <a:ext cx="6430975" cy="118872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32120" y="2446020"/>
            <a:ext cx="685800" cy="685800"/>
          </a:xfrm>
          <a:prstGeom prst="roundRect">
            <a:avLst>
              <a:gd name="adj" fmla="val 28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3570" y="261747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9224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조치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697480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 펌프 교체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3063240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09/10 교체 완료, 유량 39.6 L/min 회복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10225735" y="262432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024996"/>
          </a:solidFill>
          <a:ln w="12700">
            <a:solidFill>
              <a:srgbClr val="02499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0225735" y="26243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212080" y="3611880"/>
            <a:ext cx="6430975" cy="118872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532120" y="3863340"/>
            <a:ext cx="685800" cy="685800"/>
          </a:xfrm>
          <a:prstGeom prst="roundRect">
            <a:avLst>
              <a:gd name="adj" fmla="val 28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570" y="4034790"/>
            <a:ext cx="342900" cy="3429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9224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재발 방지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492240" y="4114800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유량 저하 알람 추가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6492240" y="4480560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정격 80% 미만 시 사전 경보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10225735" y="40416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024996"/>
          </a:solidFill>
          <a:ln w="12700">
            <a:solidFill>
              <a:srgbClr val="024996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0225735" y="40416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212080" y="5029200"/>
            <a:ext cx="6430975" cy="1188720"/>
          </a:xfrm>
          <a:prstGeom prst="roundRect">
            <a:avLst>
              <a:gd name="adj" fmla="val 21538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532120" y="5280660"/>
            <a:ext cx="685800" cy="685800"/>
          </a:xfrm>
          <a:prstGeom prst="roundRect">
            <a:avLst>
              <a:gd name="adj" fmla="val 28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3570" y="5452110"/>
            <a:ext cx="342900" cy="3429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492240" y="5257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 표준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6492240" y="5532120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유량 점검 PM 항목 추가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6492240" y="5897880"/>
            <a:ext cx="3596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1회 유량 측정을 예방보전 항목에 반영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10225735" y="545896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10225735" y="54589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49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예정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&amp;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교훈과 향후 계획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454298" cy="3566160"/>
          </a:xfrm>
          <a:prstGeom prst="roundRect">
            <a:avLst>
              <a:gd name="adj" fmla="val 7412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65176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846070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703320"/>
            <a:ext cx="26313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FIRST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041648"/>
            <a:ext cx="2631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먼저, 교체는 나중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617720"/>
            <a:ext cx="26313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유량을 처음부터 측정했다면 3주를 단축할 수 있었습니다.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68698" y="2194560"/>
            <a:ext cx="3454298" cy="3566160"/>
          </a:xfrm>
          <a:prstGeom prst="roundRect">
            <a:avLst>
              <a:gd name="adj" fmla="val 7412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80178" y="265176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488" y="284607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80178" y="3703320"/>
            <a:ext cx="26313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≠ ROOT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780178" y="4041648"/>
            <a:ext cx="2631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효과에 주의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780178" y="4617720"/>
            <a:ext cx="26313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증상이 줄어든 조치(H2, H5)를 원인으로 오판하지 않도록 기록했습니다.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88757" y="2194560"/>
            <a:ext cx="3454298" cy="3566160"/>
          </a:xfrm>
          <a:prstGeom prst="roundRect">
            <a:avLst>
              <a:gd name="adj" fmla="val 7412"/>
            </a:avLst>
          </a:prstGeom>
          <a:solidFill>
            <a:srgbClr val="FFFFFF"/>
          </a:solidFill>
          <a:ln w="9525">
            <a:solidFill>
              <a:srgbClr val="E3E9F0"/>
            </a:solidFill>
            <a:prstDash val="solid"/>
          </a:ln>
          <a:effectLst>
            <a:outerShdw sx="100000" sy="100000" kx="0" ky="0" algn="bl" rotWithShape="0" blurRad="228600" dist="50800" dir="5400000">
              <a:srgbClr val="0A1722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00237" y="265176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4547" y="2846070"/>
            <a:ext cx="388620" cy="3886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600237" y="3703320"/>
            <a:ext cx="26313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4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OUT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600237" y="4041648"/>
            <a:ext cx="2631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A17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설비 확대 점검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8600237" y="4617720"/>
            <a:ext cx="26313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칠러를 쓰는 1·2·5호기 유량을 10월 중 점검합니다.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143000"/>
            <a:ext cx="9265615" cy="4937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63040" y="2057400"/>
            <a:ext cx="92656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감사합니다.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2377440" y="3246120"/>
            <a:ext cx="7436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E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데이터나 측정 기록이 필요하시면 설비보전팀으로 요청해 주세요.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581248" y="4343400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581248" y="43434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49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문의하기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33008" y="4343400"/>
            <a:ext cx="2377440" cy="566928"/>
          </a:xfrm>
          <a:prstGeom prst="roundRect">
            <a:avLst>
              <a:gd name="adj" fmla="val 50000"/>
            </a:avLst>
          </a:prstGeom>
          <a:ln w="15875">
            <a:solidFill>
              <a:srgbClr val="9DB9C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33008" y="43434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데이터 요청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Veebar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설비 문제 해결 경과 보고</dc:title>
  <dc:subject>PptxGenJS Presentation</dc:subject>
  <dc:creator>설비보전팀</dc:creator>
  <cp:lastModifiedBy>설비보전팀</cp:lastModifiedBy>
  <cp:revision>1</cp:revision>
  <dcterms:created xsi:type="dcterms:W3CDTF">2026-10-12T13:43:24Z</dcterms:created>
  <dcterms:modified xsi:type="dcterms:W3CDTF">2026-10-12T13:43:24Z</dcterms:modified>
</cp:coreProperties>
</file>